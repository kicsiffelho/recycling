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3" r:id="rId8"/>
    <p:sldId id="262" r:id="rId9"/>
    <p:sldId id="264" r:id="rId10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E6EF"/>
    <a:srgbClr val="B3BFB8"/>
    <a:srgbClr val="E3C0D3"/>
    <a:srgbClr val="95818D"/>
    <a:srgbClr val="0B2B4F"/>
    <a:srgbClr val="0C35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0981AB-81EE-4DA8-92AE-A187EC548B16}" v="3287" dt="2022-03-05T10:26:18.872"/>
    <p1510:client id="{55FB3AA9-611D-42E2-BA5C-FB0C7432F5C9}" v="5" dt="2022-03-04T20:23:26.922"/>
    <p1510:client id="{E15565FE-23EF-441F-A853-36F7168E996E}" v="165" dt="2022-03-04T20:39:30.581"/>
    <p1510:client id="{E838C0FE-EE46-4B1F-87B0-D69A10DE0ED8}" v="4" dt="2022-03-05T10:36:21.9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86" d="100"/>
          <a:sy n="86" d="100"/>
        </p:scale>
        <p:origin x="6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Alcím mintájának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317465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10502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56358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46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291685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97832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78127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03084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830660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6309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72255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F1901C-D33B-4565-A7E4-5DF903098DB6}" type="datetimeFigureOut">
              <a:rPr lang="hu-HU" smtClean="0"/>
              <a:t>2022. 03. 05.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2FF2AA-B0B2-4F6D-BCD1-ED89749CA0E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98062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971910" y="1464374"/>
            <a:ext cx="6185337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4000" dirty="0">
                <a:solidFill>
                  <a:srgbClr val="F0E6EF"/>
                </a:solidFill>
                <a:cs typeface="Calibri"/>
              </a:rPr>
              <a:t>Újrahasznosított üveghomok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A961E1C3-095D-4B3F-BDF3-3698F9E4EADC}"/>
              </a:ext>
            </a:extLst>
          </p:cNvPr>
          <p:cNvSpPr txBox="1"/>
          <p:nvPr/>
        </p:nvSpPr>
        <p:spPr>
          <a:xfrm>
            <a:off x="631975" y="5249091"/>
            <a:ext cx="1642421" cy="9716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Készítette</a:t>
            </a:r>
            <a:r>
              <a:rPr lang="hu-HU" dirty="0">
                <a:solidFill>
                  <a:srgbClr val="F0E6EF"/>
                </a:solidFill>
                <a:cs typeface="Calibri"/>
              </a:rPr>
              <a:t>:</a:t>
            </a:r>
            <a:endParaRPr lang="hu-HU" dirty="0">
              <a:solidFill>
                <a:srgbClr val="000000"/>
              </a:solidFill>
              <a:cs typeface="Calibri"/>
            </a:endParaRPr>
          </a:p>
          <a:p>
            <a:r>
              <a:rPr lang="hu-HU" dirty="0">
                <a:solidFill>
                  <a:srgbClr val="F0E6EF"/>
                </a:solidFill>
                <a:cs typeface="Calibri"/>
              </a:rPr>
              <a:t>        Kiss Virág</a:t>
            </a:r>
          </a:p>
          <a:p>
            <a:r>
              <a:rPr lang="hu-HU" dirty="0">
                <a:solidFill>
                  <a:srgbClr val="F0E6EF"/>
                </a:solidFill>
                <a:cs typeface="Calibri"/>
              </a:rPr>
              <a:t>        MSOSY8</a:t>
            </a:r>
          </a:p>
        </p:txBody>
      </p:sp>
      <p:pic>
        <p:nvPicPr>
          <p:cNvPr id="6" name="Kép 6" descr="A képen személy, kéz, talaj, tartás látható&#10;&#10;Automatikusan generált leírás">
            <a:extLst>
              <a:ext uri="{FF2B5EF4-FFF2-40B4-BE49-F238E27FC236}">
                <a16:creationId xmlns:a16="http://schemas.microsoft.com/office/drawing/2014/main" id="{32B488CA-39D3-4BB8-BBC1-AAA5D63BF93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042" b="389"/>
          <a:stretch/>
        </p:blipFill>
        <p:spPr>
          <a:xfrm>
            <a:off x="6204607" y="3499753"/>
            <a:ext cx="3330011" cy="2240846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8" name="Kép 9" descr="A képen szöveg látható&#10;&#10;Automatikusan generált leírás">
            <a:extLst>
              <a:ext uri="{FF2B5EF4-FFF2-40B4-BE49-F238E27FC236}">
                <a16:creationId xmlns:a16="http://schemas.microsoft.com/office/drawing/2014/main" id="{2D50170E-3B2A-426B-8650-9BBE7ADA9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8953" y="130503"/>
            <a:ext cx="1245476" cy="1254234"/>
          </a:xfrm>
          <a:prstGeom prst="rect">
            <a:avLst/>
          </a:prstGeom>
        </p:spPr>
      </p:pic>
      <p:pic>
        <p:nvPicPr>
          <p:cNvPr id="9" name="Kép 9">
            <a:extLst>
              <a:ext uri="{FF2B5EF4-FFF2-40B4-BE49-F238E27FC236}">
                <a16:creationId xmlns:a16="http://schemas.microsoft.com/office/drawing/2014/main" id="{9A8CC0B3-A04C-4632-8802-F3A26AAC27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44469" y="5771055"/>
            <a:ext cx="781269" cy="790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8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10719100" y="204291"/>
            <a:ext cx="104221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rgbClr val="F0E6EF"/>
                </a:solidFill>
                <a:cs typeface="Calibri"/>
              </a:rPr>
              <a:t>Üveg</a:t>
            </a:r>
            <a:endParaRPr lang="hu-HU" dirty="0"/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21D9F25-AE97-4A15-B226-04710A80970B}"/>
              </a:ext>
            </a:extLst>
          </p:cNvPr>
          <p:cNvSpPr txBox="1"/>
          <p:nvPr/>
        </p:nvSpPr>
        <p:spPr>
          <a:xfrm>
            <a:off x="1942793" y="1546343"/>
            <a:ext cx="745384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Homokból, nagy energiabefektetéssel készülő kristályszerkezetű anyag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E85799C-A93F-4C07-BFE8-E2B8124EF569}"/>
              </a:ext>
            </a:extLst>
          </p:cNvPr>
          <p:cNvSpPr txBox="1"/>
          <p:nvPr/>
        </p:nvSpPr>
        <p:spPr>
          <a:xfrm>
            <a:off x="1942795" y="2831794"/>
            <a:ext cx="65923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Gyártása energiaigényes --&gt; homok 1300-1500°C-on folyékony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971913DF-2328-4DBE-84BC-20622CE4F953}"/>
              </a:ext>
            </a:extLst>
          </p:cNvPr>
          <p:cNvSpPr txBox="1"/>
          <p:nvPr/>
        </p:nvSpPr>
        <p:spPr>
          <a:xfrm>
            <a:off x="1969070" y="4126003"/>
            <a:ext cx="245829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Fúvás, sajtolás, húzás</a:t>
            </a:r>
            <a:endParaRPr lang="hu-HU" sz="2000" dirty="0"/>
          </a:p>
        </p:txBody>
      </p:sp>
      <p:pic>
        <p:nvPicPr>
          <p:cNvPr id="9" name="Kép 9">
            <a:extLst>
              <a:ext uri="{FF2B5EF4-FFF2-40B4-BE49-F238E27FC236}">
                <a16:creationId xmlns:a16="http://schemas.microsoft.com/office/drawing/2014/main" id="{B146E765-C910-4AB1-96DF-97025DAAB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9" y="1505607"/>
            <a:ext cx="474719" cy="48347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9580308D-9F23-4512-AFB8-C09ABDD97D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8" y="2793123"/>
            <a:ext cx="474719" cy="483477"/>
          </a:xfrm>
          <a:prstGeom prst="rect">
            <a:avLst/>
          </a:prstGeom>
        </p:spPr>
      </p:pic>
      <p:pic>
        <p:nvPicPr>
          <p:cNvPr id="11" name="Kép 9">
            <a:extLst>
              <a:ext uri="{FF2B5EF4-FFF2-40B4-BE49-F238E27FC236}">
                <a16:creationId xmlns:a16="http://schemas.microsoft.com/office/drawing/2014/main" id="{C9F8F77D-4B5E-4339-A7CB-D0EC74F3B9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8" y="4089399"/>
            <a:ext cx="474719" cy="4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087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7154838" y="168595"/>
            <a:ext cx="503911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rgbClr val="F0E6EF"/>
                </a:solidFill>
                <a:cs typeface="Calibri"/>
              </a:rPr>
              <a:t>Miért van szükség homokra?</a:t>
            </a:r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7D2B4E4-A604-4A37-AD36-DCD7081CCBAF}"/>
              </a:ext>
            </a:extLst>
          </p:cNvPr>
          <p:cNvSpPr txBox="1"/>
          <p:nvPr/>
        </p:nvSpPr>
        <p:spPr>
          <a:xfrm>
            <a:off x="1947750" y="1565347"/>
            <a:ext cx="239996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Globális homokhiány</a:t>
            </a:r>
            <a:endParaRPr lang="hu-HU" sz="2000" dirty="0"/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8FE5FEF-7993-40D8-851D-77B32B28923E}"/>
              </a:ext>
            </a:extLst>
          </p:cNvPr>
          <p:cNvSpPr txBox="1"/>
          <p:nvPr/>
        </p:nvSpPr>
        <p:spPr>
          <a:xfrm>
            <a:off x="1947749" y="2442448"/>
            <a:ext cx="486113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Sivatagok, tengerpartok --&gt; kimeríthetetlen?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C44A670C-BBAD-41F3-827D-23D6044E44C9}"/>
              </a:ext>
            </a:extLst>
          </p:cNvPr>
          <p:cNvSpPr txBox="1"/>
          <p:nvPr/>
        </p:nvSpPr>
        <p:spPr>
          <a:xfrm>
            <a:off x="1947747" y="3337066"/>
            <a:ext cx="3433479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3.  legtöbbet használt erőforrás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01E05B79-CAA3-43B2-9988-4D7F72A88F42}"/>
              </a:ext>
            </a:extLst>
          </p:cNvPr>
          <p:cNvSpPr txBox="1"/>
          <p:nvPr/>
        </p:nvSpPr>
        <p:spPr>
          <a:xfrm>
            <a:off x="1947746" y="4196650"/>
            <a:ext cx="47385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Sok iparágban elengedhetetlen a használata</a:t>
            </a:r>
            <a:endParaRPr lang="hu-HU" sz="2000" dirty="0"/>
          </a:p>
        </p:txBody>
      </p:sp>
      <p:sp>
        <p:nvSpPr>
          <p:cNvPr id="11" name="Szövegdoboz 10">
            <a:extLst>
              <a:ext uri="{FF2B5EF4-FFF2-40B4-BE49-F238E27FC236}">
                <a16:creationId xmlns:a16="http://schemas.microsoft.com/office/drawing/2014/main" id="{8EACFF70-FE8B-4D68-AA8A-F8A144EA9224}"/>
              </a:ext>
            </a:extLst>
          </p:cNvPr>
          <p:cNvSpPr txBox="1"/>
          <p:nvPr/>
        </p:nvSpPr>
        <p:spPr>
          <a:xfrm>
            <a:off x="1950721" y="5073751"/>
            <a:ext cx="679050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Pl.: építkezés, üveg, műanyag, talajjavítás, elektronikus eszközök</a:t>
            </a:r>
            <a:endParaRPr lang="hu-HU" sz="2000" dirty="0"/>
          </a:p>
        </p:txBody>
      </p:sp>
      <p:pic>
        <p:nvPicPr>
          <p:cNvPr id="3" name="Kép 9">
            <a:extLst>
              <a:ext uri="{FF2B5EF4-FFF2-40B4-BE49-F238E27FC236}">
                <a16:creationId xmlns:a16="http://schemas.microsoft.com/office/drawing/2014/main" id="{0BC88A45-DAF7-4C77-A0F8-8089CBB6B5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9" y="1505607"/>
            <a:ext cx="474719" cy="483477"/>
          </a:xfrm>
          <a:prstGeom prst="rect">
            <a:avLst/>
          </a:prstGeom>
        </p:spPr>
      </p:pic>
      <p:pic>
        <p:nvPicPr>
          <p:cNvPr id="15" name="Kép 9">
            <a:extLst>
              <a:ext uri="{FF2B5EF4-FFF2-40B4-BE49-F238E27FC236}">
                <a16:creationId xmlns:a16="http://schemas.microsoft.com/office/drawing/2014/main" id="{4A7B5C71-1881-4588-8938-25D3263012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52" y="2382344"/>
            <a:ext cx="474719" cy="483477"/>
          </a:xfrm>
          <a:prstGeom prst="rect">
            <a:avLst/>
          </a:prstGeom>
        </p:spPr>
      </p:pic>
      <p:pic>
        <p:nvPicPr>
          <p:cNvPr id="16" name="Kép 9">
            <a:extLst>
              <a:ext uri="{FF2B5EF4-FFF2-40B4-BE49-F238E27FC236}">
                <a16:creationId xmlns:a16="http://schemas.microsoft.com/office/drawing/2014/main" id="{038B583E-F0C5-4509-9A8B-1082981F9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51" y="3259081"/>
            <a:ext cx="474719" cy="483477"/>
          </a:xfrm>
          <a:prstGeom prst="rect">
            <a:avLst/>
          </a:prstGeom>
        </p:spPr>
      </p:pic>
      <p:pic>
        <p:nvPicPr>
          <p:cNvPr id="17" name="Kép 9">
            <a:extLst>
              <a:ext uri="{FF2B5EF4-FFF2-40B4-BE49-F238E27FC236}">
                <a16:creationId xmlns:a16="http://schemas.microsoft.com/office/drawing/2014/main" id="{32DD77F0-5B80-4D00-83B1-B5C4619F4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50" y="4135818"/>
            <a:ext cx="474719" cy="483477"/>
          </a:xfrm>
          <a:prstGeom prst="rect">
            <a:avLst/>
          </a:prstGeom>
        </p:spPr>
      </p:pic>
      <p:pic>
        <p:nvPicPr>
          <p:cNvPr id="18" name="Kép 9" descr="A képen szöveg látható&#10;&#10;Automatikusan generált leírás">
            <a:extLst>
              <a:ext uri="{FF2B5EF4-FFF2-40B4-BE49-F238E27FC236}">
                <a16:creationId xmlns:a16="http://schemas.microsoft.com/office/drawing/2014/main" id="{7127B773-A1CD-4456-9AD9-2F0DE06239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3349" y="5012556"/>
            <a:ext cx="474719" cy="4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119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10051463" y="191070"/>
            <a:ext cx="210613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rgbClr val="F0E6EF"/>
                </a:solidFill>
                <a:cs typeface="Calibri"/>
              </a:rPr>
              <a:t>Statisztika</a:t>
            </a:r>
            <a:endParaRPr lang="hu-HU" dirty="0"/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7D2B4E4-A604-4A37-AD36-DCD7081CCBAF}"/>
              </a:ext>
            </a:extLst>
          </p:cNvPr>
          <p:cNvSpPr txBox="1"/>
          <p:nvPr/>
        </p:nvSpPr>
        <p:spPr>
          <a:xfrm>
            <a:off x="1965267" y="1565347"/>
            <a:ext cx="716316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75 millió tonna homokot veszítenek a Föld víz menti partjai </a:t>
            </a:r>
            <a:r>
              <a:rPr lang="hu-HU" sz="2000" u="sng" dirty="0">
                <a:solidFill>
                  <a:srgbClr val="F0E6EF"/>
                </a:solidFill>
                <a:cs typeface="Calibri"/>
              </a:rPr>
              <a:t>évente</a:t>
            </a:r>
            <a:endParaRPr lang="hu-HU" sz="2000" dirty="0">
              <a:solidFill>
                <a:srgbClr val="F0E6EF"/>
              </a:solidFill>
              <a:cs typeface="Calibri"/>
            </a:endParaRPr>
          </a:p>
        </p:txBody>
      </p:sp>
      <p:sp>
        <p:nvSpPr>
          <p:cNvPr id="3" name="Szövegdoboz 2">
            <a:extLst>
              <a:ext uri="{FF2B5EF4-FFF2-40B4-BE49-F238E27FC236}">
                <a16:creationId xmlns:a16="http://schemas.microsoft.com/office/drawing/2014/main" id="{2CC6AC40-CD0B-4789-9BC8-2F5EF4D088CA}"/>
              </a:ext>
            </a:extLst>
          </p:cNvPr>
          <p:cNvSpPr txBox="1"/>
          <p:nvPr/>
        </p:nvSpPr>
        <p:spPr>
          <a:xfrm>
            <a:off x="1965264" y="2548020"/>
            <a:ext cx="472975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30 ezer tonna homok szükséges 1 km úthoz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12177F34-E3B2-4D10-9883-E296F808BC3E}"/>
              </a:ext>
            </a:extLst>
          </p:cNvPr>
          <p:cNvSpPr txBox="1"/>
          <p:nvPr/>
        </p:nvSpPr>
        <p:spPr>
          <a:xfrm>
            <a:off x="1965264" y="3530692"/>
            <a:ext cx="468596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12 millió tonna egy atomerőmű építéséhez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DAFF105D-FCA0-4016-B277-134690F3346E}"/>
              </a:ext>
            </a:extLst>
          </p:cNvPr>
          <p:cNvSpPr txBox="1"/>
          <p:nvPr/>
        </p:nvSpPr>
        <p:spPr>
          <a:xfrm>
            <a:off x="1965264" y="4513365"/>
            <a:ext cx="335465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75-90% tengerpartok apadnak</a:t>
            </a:r>
          </a:p>
        </p:txBody>
      </p:sp>
      <p:pic>
        <p:nvPicPr>
          <p:cNvPr id="6" name="Kép 9">
            <a:extLst>
              <a:ext uri="{FF2B5EF4-FFF2-40B4-BE49-F238E27FC236}">
                <a16:creationId xmlns:a16="http://schemas.microsoft.com/office/drawing/2014/main" id="{824CB389-82A2-4366-9426-82BFC98CB6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9" y="1505607"/>
            <a:ext cx="474719" cy="483477"/>
          </a:xfrm>
          <a:prstGeom prst="rect">
            <a:avLst/>
          </a:prstGeom>
        </p:spPr>
      </p:pic>
      <p:pic>
        <p:nvPicPr>
          <p:cNvPr id="16" name="Kép 9">
            <a:extLst>
              <a:ext uri="{FF2B5EF4-FFF2-40B4-BE49-F238E27FC236}">
                <a16:creationId xmlns:a16="http://schemas.microsoft.com/office/drawing/2014/main" id="{AA5457A6-A048-4283-8544-E24E3AFA9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8" y="2495330"/>
            <a:ext cx="474719" cy="483477"/>
          </a:xfrm>
          <a:prstGeom prst="rect">
            <a:avLst/>
          </a:prstGeom>
        </p:spPr>
      </p:pic>
      <p:pic>
        <p:nvPicPr>
          <p:cNvPr id="17" name="Kép 9">
            <a:extLst>
              <a:ext uri="{FF2B5EF4-FFF2-40B4-BE49-F238E27FC236}">
                <a16:creationId xmlns:a16="http://schemas.microsoft.com/office/drawing/2014/main" id="{1A7672BF-1654-41DF-AC68-8A99765BFF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7" y="3476295"/>
            <a:ext cx="474719" cy="483477"/>
          </a:xfrm>
          <a:prstGeom prst="rect">
            <a:avLst/>
          </a:prstGeom>
        </p:spPr>
      </p:pic>
      <p:pic>
        <p:nvPicPr>
          <p:cNvPr id="18" name="Kép 9">
            <a:extLst>
              <a:ext uri="{FF2B5EF4-FFF2-40B4-BE49-F238E27FC236}">
                <a16:creationId xmlns:a16="http://schemas.microsoft.com/office/drawing/2014/main" id="{B9AAB476-5EB4-4BB5-8A45-83B6477B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7" y="4457260"/>
            <a:ext cx="474719" cy="4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741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9038769" y="186774"/>
            <a:ext cx="296778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rgbClr val="F0E6EF"/>
                </a:solidFill>
                <a:cs typeface="Calibri"/>
              </a:rPr>
              <a:t>Változás kezdete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21D9F25-AE97-4A15-B226-04710A80970B}"/>
              </a:ext>
            </a:extLst>
          </p:cNvPr>
          <p:cNvSpPr txBox="1"/>
          <p:nvPr/>
        </p:nvSpPr>
        <p:spPr>
          <a:xfrm>
            <a:off x="2004103" y="1563860"/>
            <a:ext cx="684074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Új-Zélandi sör gyártó vállalat (DB Export Beer), 2017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E85799C-A93F-4C07-BFE8-E2B8124EF569}"/>
              </a:ext>
            </a:extLst>
          </p:cNvPr>
          <p:cNvSpPr txBox="1"/>
          <p:nvPr/>
        </p:nvSpPr>
        <p:spPr>
          <a:xfrm>
            <a:off x="2004105" y="2690995"/>
            <a:ext cx="310065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Használt sörös, </a:t>
            </a:r>
            <a:r>
              <a:rPr lang="hu-HU" sz="2000" dirty="0" err="1">
                <a:solidFill>
                  <a:srgbClr val="F0E6EF"/>
                </a:solidFill>
                <a:cs typeface="Calibri"/>
              </a:rPr>
              <a:t>cideres</a:t>
            </a:r>
            <a:r>
              <a:rPr lang="hu-HU" sz="2000" dirty="0">
                <a:solidFill>
                  <a:srgbClr val="F0E6EF"/>
                </a:solidFill>
                <a:cs typeface="Calibri"/>
              </a:rPr>
              <a:t> üveg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C57DB01-BD36-4CDF-B87D-A8B1768FB3C3}"/>
              </a:ext>
            </a:extLst>
          </p:cNvPr>
          <p:cNvSpPr txBox="1"/>
          <p:nvPr/>
        </p:nvSpPr>
        <p:spPr>
          <a:xfrm>
            <a:off x="2004104" y="3826889"/>
            <a:ext cx="256637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Környezetbarát homok</a:t>
            </a:r>
            <a:endParaRPr lang="hu-HU" sz="2000" dirty="0"/>
          </a:p>
        </p:txBody>
      </p:sp>
      <p:pic>
        <p:nvPicPr>
          <p:cNvPr id="8" name="Ábra 6">
            <a:extLst>
              <a:ext uri="{FF2B5EF4-FFF2-40B4-BE49-F238E27FC236}">
                <a16:creationId xmlns:a16="http://schemas.microsoft.com/office/drawing/2014/main" id="{E6ADDF85-A294-4843-A5D2-25BF8B828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25289" y="5707452"/>
            <a:ext cx="638175" cy="647700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2E4048A2-B3DB-4811-A223-7EBAF818A8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849" y="1505607"/>
            <a:ext cx="474719" cy="483477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7A5C5E53-C208-4E6A-9B3D-85958D73A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848" y="2652985"/>
            <a:ext cx="474719" cy="483477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BA1439FF-24E3-47D1-BDCF-9666F784A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9848" y="3747813"/>
            <a:ext cx="474719" cy="4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8722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8688423" y="178015"/>
            <a:ext cx="34144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rgbClr val="F0E6EF"/>
                </a:solidFill>
                <a:cs typeface="Calibri"/>
              </a:rPr>
              <a:t>Gépezet működése</a:t>
            </a: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59749625-93E4-47A0-A3BD-B63298C64C19}"/>
              </a:ext>
            </a:extLst>
          </p:cNvPr>
          <p:cNvSpPr txBox="1"/>
          <p:nvPr/>
        </p:nvSpPr>
        <p:spPr>
          <a:xfrm>
            <a:off x="1967582" y="1558902"/>
            <a:ext cx="29692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Használt üveg behelyezése</a:t>
            </a:r>
          </a:p>
        </p:txBody>
      </p:sp>
      <p:pic>
        <p:nvPicPr>
          <p:cNvPr id="10" name="Kép 9" descr="A képen szöveg, beltéri látható&#10;&#10;Automatikusan generált leírás">
            <a:extLst>
              <a:ext uri="{FF2B5EF4-FFF2-40B4-BE49-F238E27FC236}">
                <a16:creationId xmlns:a16="http://schemas.microsoft.com/office/drawing/2014/main" id="{E77F6FEF-A7CF-4305-AEA0-28BED4133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0459" y="1616721"/>
            <a:ext cx="4931367" cy="3329078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Szövegdoboz 10">
            <a:extLst>
              <a:ext uri="{FF2B5EF4-FFF2-40B4-BE49-F238E27FC236}">
                <a16:creationId xmlns:a16="http://schemas.microsoft.com/office/drawing/2014/main" id="{E146DF65-CBF9-4F35-BD0C-A4D68679F2AD}"/>
              </a:ext>
            </a:extLst>
          </p:cNvPr>
          <p:cNvSpPr txBox="1"/>
          <p:nvPr/>
        </p:nvSpPr>
        <p:spPr>
          <a:xfrm>
            <a:off x="1967581" y="2555126"/>
            <a:ext cx="2216031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Összetörés, felőrlés</a:t>
            </a:r>
            <a:endParaRPr lang="hu-HU" sz="2000" dirty="0"/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5E38BD4C-E2B4-4D40-BA76-D1A7B82649CB}"/>
              </a:ext>
            </a:extLst>
          </p:cNvPr>
          <p:cNvSpPr txBox="1"/>
          <p:nvPr/>
        </p:nvSpPr>
        <p:spPr>
          <a:xfrm>
            <a:off x="1967582" y="3551349"/>
            <a:ext cx="3740031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Szívórendszer eltávolítja a címkét, műanyagot, szennyeződéseket</a:t>
            </a:r>
          </a:p>
        </p:txBody>
      </p:sp>
      <p:sp>
        <p:nvSpPr>
          <p:cNvPr id="13" name="Szövegdoboz 12">
            <a:extLst>
              <a:ext uri="{FF2B5EF4-FFF2-40B4-BE49-F238E27FC236}">
                <a16:creationId xmlns:a16="http://schemas.microsoft.com/office/drawing/2014/main" id="{FFF7C334-1141-4B89-9B3E-2C5FFA524BFB}"/>
              </a:ext>
            </a:extLst>
          </p:cNvPr>
          <p:cNvSpPr txBox="1"/>
          <p:nvPr/>
        </p:nvSpPr>
        <p:spPr>
          <a:xfrm>
            <a:off x="1967580" y="4854125"/>
            <a:ext cx="445823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Néhány másodperc alatt újrahasznosított üveg átalakul 200 g homokká</a:t>
            </a:r>
          </a:p>
        </p:txBody>
      </p:sp>
      <p:pic>
        <p:nvPicPr>
          <p:cNvPr id="15" name="Ábra 6">
            <a:extLst>
              <a:ext uri="{FF2B5EF4-FFF2-40B4-BE49-F238E27FC236}">
                <a16:creationId xmlns:a16="http://schemas.microsoft.com/office/drawing/2014/main" id="{37948721-D4AD-4BE4-9704-26F2CD2DF4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25289" y="5707452"/>
            <a:ext cx="638175" cy="647700"/>
          </a:xfrm>
          <a:prstGeom prst="rect">
            <a:avLst/>
          </a:prstGeom>
        </p:spPr>
      </p:pic>
      <p:pic>
        <p:nvPicPr>
          <p:cNvPr id="19" name="Kép 18">
            <a:extLst>
              <a:ext uri="{FF2B5EF4-FFF2-40B4-BE49-F238E27FC236}">
                <a16:creationId xmlns:a16="http://schemas.microsoft.com/office/drawing/2014/main" id="{1E323EAC-12C4-49C1-A68A-8F662024F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849" y="1505607"/>
            <a:ext cx="474719" cy="483477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770E2A7E-9FFC-489D-865D-57B813CED5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848" y="2512847"/>
            <a:ext cx="474719" cy="483477"/>
          </a:xfrm>
          <a:prstGeom prst="rect">
            <a:avLst/>
          </a:prstGeom>
        </p:spPr>
      </p:pic>
      <p:pic>
        <p:nvPicPr>
          <p:cNvPr id="21" name="Kép 20">
            <a:extLst>
              <a:ext uri="{FF2B5EF4-FFF2-40B4-BE49-F238E27FC236}">
                <a16:creationId xmlns:a16="http://schemas.microsoft.com/office/drawing/2014/main" id="{C0A7447B-07BC-4850-AD43-941EDD3CF6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848" y="3520089"/>
            <a:ext cx="474719" cy="483477"/>
          </a:xfrm>
          <a:prstGeom prst="rect">
            <a:avLst/>
          </a:prstGeom>
        </p:spPr>
      </p:pic>
      <p:pic>
        <p:nvPicPr>
          <p:cNvPr id="22" name="Kép 21">
            <a:extLst>
              <a:ext uri="{FF2B5EF4-FFF2-40B4-BE49-F238E27FC236}">
                <a16:creationId xmlns:a16="http://schemas.microsoft.com/office/drawing/2014/main" id="{828BCC04-E59E-4493-A5E3-29CDBA731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9848" y="4790089"/>
            <a:ext cx="474719" cy="4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36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7785625" y="213050"/>
            <a:ext cx="413334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rgbClr val="F0E6EF"/>
                </a:solidFill>
                <a:cs typeface="Calibri"/>
              </a:rPr>
              <a:t>Kalapácsos mészkő törő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21D9F25-AE97-4A15-B226-04710A80970B}"/>
              </a:ext>
            </a:extLst>
          </p:cNvPr>
          <p:cNvSpPr txBox="1"/>
          <p:nvPr/>
        </p:nvSpPr>
        <p:spPr>
          <a:xfrm>
            <a:off x="1960310" y="1581377"/>
            <a:ext cx="531972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Törő feje a kalapácsmalomnak egy folyamatosan mozgó szállítószalag mangán acél láncszemekből</a:t>
            </a: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E85799C-A93F-4C07-BFE8-E2B8124EF569}"/>
              </a:ext>
            </a:extLst>
          </p:cNvPr>
          <p:cNvSpPr txBox="1"/>
          <p:nvPr/>
        </p:nvSpPr>
        <p:spPr>
          <a:xfrm>
            <a:off x="1960312" y="3085133"/>
            <a:ext cx="305685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Rostélyon keresztül távozik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C57DB01-BD36-4CDF-B87D-A8B1768FB3C3}"/>
              </a:ext>
            </a:extLst>
          </p:cNvPr>
          <p:cNvSpPr txBox="1"/>
          <p:nvPr/>
        </p:nvSpPr>
        <p:spPr>
          <a:xfrm>
            <a:off x="1960311" y="4291096"/>
            <a:ext cx="305685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0.1 - 0.3 mm között méret</a:t>
            </a:r>
            <a:endParaRPr lang="hu-HU" sz="2000" dirty="0"/>
          </a:p>
        </p:txBody>
      </p:sp>
      <p:pic>
        <p:nvPicPr>
          <p:cNvPr id="7" name="Kép 7" descr="A képen szöveg látható&#10;&#10;Automatikusan generált leírás">
            <a:extLst>
              <a:ext uri="{FF2B5EF4-FFF2-40B4-BE49-F238E27FC236}">
                <a16:creationId xmlns:a16="http://schemas.microsoft.com/office/drawing/2014/main" id="{90232374-44EC-4340-BE84-FBD32FEEE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9335" y="2226059"/>
            <a:ext cx="2633607" cy="2633607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5F1D480B-B372-4C85-86A5-449FF84E0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849" y="1505607"/>
            <a:ext cx="474719" cy="483477"/>
          </a:xfrm>
          <a:prstGeom prst="rect">
            <a:avLst/>
          </a:prstGeom>
        </p:spPr>
      </p:pic>
      <p:pic>
        <p:nvPicPr>
          <p:cNvPr id="10" name="Kép 9">
            <a:extLst>
              <a:ext uri="{FF2B5EF4-FFF2-40B4-BE49-F238E27FC236}">
                <a16:creationId xmlns:a16="http://schemas.microsoft.com/office/drawing/2014/main" id="{40CCBD12-2ED3-435E-AC58-BF54BE5C36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848" y="3047123"/>
            <a:ext cx="474719" cy="483477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38B1E0F9-3940-45A1-8802-3518270C3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848" y="4212020"/>
            <a:ext cx="474719" cy="4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7975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8530768" y="204291"/>
            <a:ext cx="3414473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rgbClr val="F0E6EF"/>
                </a:solidFill>
                <a:cs typeface="Calibri"/>
              </a:rPr>
              <a:t>Üveghomok előnye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721D9F25-AE97-4A15-B226-04710A80970B}"/>
              </a:ext>
            </a:extLst>
          </p:cNvPr>
          <p:cNvSpPr txBox="1"/>
          <p:nvPr/>
        </p:nvSpPr>
        <p:spPr>
          <a:xfrm>
            <a:off x="1969068" y="1546343"/>
            <a:ext cx="871988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Olcsóbb mint a kőből készült adalékanyagok --&gt; használtban minősége megegyezik</a:t>
            </a:r>
            <a:endParaRPr lang="hu-HU" sz="2000" dirty="0"/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CE85799C-A93F-4C07-BFE8-E2B8124EF569}"/>
              </a:ext>
            </a:extLst>
          </p:cNvPr>
          <p:cNvSpPr txBox="1"/>
          <p:nvPr/>
        </p:nvSpPr>
        <p:spPr>
          <a:xfrm>
            <a:off x="1969071" y="2656870"/>
            <a:ext cx="583945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Természetes homok helyettesítője --&gt; így azt megóvja</a:t>
            </a: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C57DB01-BD36-4CDF-B87D-A8B1768FB3C3}"/>
              </a:ext>
            </a:extLst>
          </p:cNvPr>
          <p:cNvSpPr txBox="1"/>
          <p:nvPr/>
        </p:nvSpPr>
        <p:spPr>
          <a:xfrm>
            <a:off x="1969070" y="3776155"/>
            <a:ext cx="4537065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Nem mérgező --&gt; nem ártja a környezetet</a:t>
            </a:r>
          </a:p>
        </p:txBody>
      </p:sp>
      <p:sp>
        <p:nvSpPr>
          <p:cNvPr id="7" name="Szövegdoboz 6">
            <a:extLst>
              <a:ext uri="{FF2B5EF4-FFF2-40B4-BE49-F238E27FC236}">
                <a16:creationId xmlns:a16="http://schemas.microsoft.com/office/drawing/2014/main" id="{FE5CB260-B8AD-4D7A-BE94-F313F224070D}"/>
              </a:ext>
            </a:extLst>
          </p:cNvPr>
          <p:cNvSpPr txBox="1"/>
          <p:nvPr/>
        </p:nvSpPr>
        <p:spPr>
          <a:xfrm>
            <a:off x="1969069" y="4895440"/>
            <a:ext cx="503630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2000" dirty="0">
                <a:solidFill>
                  <a:srgbClr val="F0E6EF"/>
                </a:solidFill>
                <a:cs typeface="Calibri"/>
              </a:rPr>
              <a:t>Rossz környezeti hatások között is használható</a:t>
            </a:r>
          </a:p>
        </p:txBody>
      </p:sp>
      <p:pic>
        <p:nvPicPr>
          <p:cNvPr id="10" name="Kép 9">
            <a:extLst>
              <a:ext uri="{FF2B5EF4-FFF2-40B4-BE49-F238E27FC236}">
                <a16:creationId xmlns:a16="http://schemas.microsoft.com/office/drawing/2014/main" id="{1408E0FB-47EE-477E-92B1-203D8D80F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9" y="1505607"/>
            <a:ext cx="474719" cy="483477"/>
          </a:xfrm>
          <a:prstGeom prst="rect">
            <a:avLst/>
          </a:prstGeom>
        </p:spPr>
      </p:pic>
      <p:pic>
        <p:nvPicPr>
          <p:cNvPr id="11" name="Kép 10">
            <a:extLst>
              <a:ext uri="{FF2B5EF4-FFF2-40B4-BE49-F238E27FC236}">
                <a16:creationId xmlns:a16="http://schemas.microsoft.com/office/drawing/2014/main" id="{C502AF29-21B9-45B1-B0B0-A270F17B5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8" y="2617951"/>
            <a:ext cx="474719" cy="483477"/>
          </a:xfrm>
          <a:prstGeom prst="rect">
            <a:avLst/>
          </a:prstGeom>
        </p:spPr>
      </p:pic>
      <p:pic>
        <p:nvPicPr>
          <p:cNvPr id="12" name="Kép 11">
            <a:extLst>
              <a:ext uri="{FF2B5EF4-FFF2-40B4-BE49-F238E27FC236}">
                <a16:creationId xmlns:a16="http://schemas.microsoft.com/office/drawing/2014/main" id="{CAAD8EFB-6FF0-46AA-ACA6-BAC48292A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8" y="3739054"/>
            <a:ext cx="474719" cy="483477"/>
          </a:xfrm>
          <a:prstGeom prst="rect">
            <a:avLst/>
          </a:prstGeom>
        </p:spPr>
      </p:pic>
      <p:pic>
        <p:nvPicPr>
          <p:cNvPr id="13" name="Kép 12">
            <a:extLst>
              <a:ext uri="{FF2B5EF4-FFF2-40B4-BE49-F238E27FC236}">
                <a16:creationId xmlns:a16="http://schemas.microsoft.com/office/drawing/2014/main" id="{8A59D548-BDF5-465A-B3F6-4BBE3066B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848" y="4860158"/>
            <a:ext cx="474719" cy="48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4669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B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zövegdoboz 1">
            <a:extLst>
              <a:ext uri="{FF2B5EF4-FFF2-40B4-BE49-F238E27FC236}">
                <a16:creationId xmlns:a16="http://schemas.microsoft.com/office/drawing/2014/main" id="{75AC23CA-483D-4535-972D-F890C8906BAB}"/>
              </a:ext>
            </a:extLst>
          </p:cNvPr>
          <p:cNvSpPr txBox="1"/>
          <p:nvPr/>
        </p:nvSpPr>
        <p:spPr>
          <a:xfrm>
            <a:off x="4507586" y="3252952"/>
            <a:ext cx="410458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hu-HU" sz="3200" dirty="0">
                <a:solidFill>
                  <a:srgbClr val="F0E6EF"/>
                </a:solidFill>
                <a:cs typeface="Calibri"/>
              </a:rPr>
              <a:t>Köszönöm a figyelmet!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129551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Szélesvásznú</PresentationFormat>
  <Paragraphs>0</Paragraphs>
  <Slides>9</Slides>
  <Notes>0</Notes>
  <HiddenSlides>0</HiddenSlides>
  <MMClips>0</MMClip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9</vt:i4>
      </vt:variant>
    </vt:vector>
  </HeadingPairs>
  <TitlesOfParts>
    <vt:vector size="10" baseType="lpstr"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/>
  <cp:lastModifiedBy/>
  <cp:revision>421</cp:revision>
  <dcterms:created xsi:type="dcterms:W3CDTF">2022-03-04T20:21:22Z</dcterms:created>
  <dcterms:modified xsi:type="dcterms:W3CDTF">2022-03-05T10:36:40Z</dcterms:modified>
</cp:coreProperties>
</file>